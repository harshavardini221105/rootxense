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7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97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BBCD-78F5-1907-5D53-A2E2C246E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BE27FBE-36A9-7167-4D92-566F9B8EE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06E339EA-C6CB-BF2D-6416-A5360695CD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6103A09-4447-F317-0C7A-16AC32896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567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dpi.com/2077-0472/16/3/359" TargetMode="External" /><Relationship Id="rId3" Type="http://schemas.openxmlformats.org/officeDocument/2006/relationships/image" Target="../media/image2.png" /><Relationship Id="rId7" Type="http://schemas.openxmlformats.org/officeDocument/2006/relationships/hyperlink" Target="https://ijamjournal.org/ijam/publication/index.php/ijam/article/view/1070" TargetMode="Externa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www.nature.com/articles/s41598-026-36017-z" TargetMode="External" /><Relationship Id="rId5" Type="http://schemas.openxmlformats.org/officeDocument/2006/relationships/hyperlink" Target="https://www.sciencedirect.com/science/article/pii/S1877050925022434" TargetMode="External" /><Relationship Id="rId4" Type="http://schemas.openxmlformats.org/officeDocument/2006/relationships/hyperlink" Target="https://bsssjournals.onlinelibrary.wiley.com/doi/pdf/10.1111/sum.70201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961573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93332" y="212325"/>
            <a:ext cx="10710962" cy="8763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RootXense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An AI-Enabled Soil-Root Health Monitoring System for Sustainable Crop Management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67213" y="144065"/>
            <a:ext cx="9700000" cy="77806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191397"/>
            <a:ext cx="7818103" cy="556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- 26131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Early detection and management of crop diseases and pest infestations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Agriculture , food tech and rural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development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ROOT6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2000" y="80000"/>
            <a:ext cx="1500000" cy="708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581630" y="0"/>
            <a:ext cx="8349448" cy="1143000"/>
          </a:xfrm>
        </p:spPr>
        <p:txBody>
          <a:bodyPr/>
          <a:lstStyle/>
          <a:p>
            <a:pPr eaLnBrk="1" hangingPunct="1"/>
            <a:b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RootXense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 An AI-Enabled Soil-Root Health Monitoring System for Sustainable Crop Management</a:t>
            </a:r>
            <a:endParaRPr lang="en-US" sz="24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ROOT6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622CE3-8A28-E236-B923-D992C22BFAF6}"/>
              </a:ext>
            </a:extLst>
          </p:cNvPr>
          <p:cNvSpPr/>
          <p:nvPr/>
        </p:nvSpPr>
        <p:spPr>
          <a:xfrm>
            <a:off x="256649" y="1226420"/>
            <a:ext cx="3664711" cy="1319885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DFA201-3EBD-0EE2-F39B-8F1107449BDC}"/>
              </a:ext>
            </a:extLst>
          </p:cNvPr>
          <p:cNvSpPr/>
          <p:nvPr/>
        </p:nvSpPr>
        <p:spPr>
          <a:xfrm>
            <a:off x="233998" y="2838536"/>
            <a:ext cx="3664711" cy="1326490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FA952A-1AD1-2DB1-8950-D84F2F72B440}"/>
              </a:ext>
            </a:extLst>
          </p:cNvPr>
          <p:cNvSpPr/>
          <p:nvPr/>
        </p:nvSpPr>
        <p:spPr>
          <a:xfrm>
            <a:off x="233997" y="4311696"/>
            <a:ext cx="3664711" cy="1447420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30554-8416-2182-32EA-17F0E3C5F37B}"/>
              </a:ext>
            </a:extLst>
          </p:cNvPr>
          <p:cNvSpPr txBox="1"/>
          <p:nvPr/>
        </p:nvSpPr>
        <p:spPr>
          <a:xfrm>
            <a:off x="385343" y="1277129"/>
            <a:ext cx="32610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Problem: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Late detection (only after visible symptoms)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No root-level monitoring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EFF619-F3AA-3F4F-229B-4F80CA987128}"/>
              </a:ext>
            </a:extLst>
          </p:cNvPr>
          <p:cNvSpPr txBox="1"/>
          <p:nvPr/>
        </p:nvSpPr>
        <p:spPr>
          <a:xfrm>
            <a:off x="256649" y="2962095"/>
            <a:ext cx="3473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Proposed 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Smart underground probe with sensors + camera + AI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234459-ABCB-2E46-55AA-B396C110429E}"/>
              </a:ext>
            </a:extLst>
          </p:cNvPr>
          <p:cNvSpPr txBox="1"/>
          <p:nvPr/>
        </p:nvSpPr>
        <p:spPr>
          <a:xfrm>
            <a:off x="327045" y="4366606"/>
            <a:ext cx="34937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Innovation: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Detects diseases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before visible symptoms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Provides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Root Health Score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790FF8-002D-B3AC-9F14-1B10A40605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338"/>
          <a:stretch>
            <a:fillRect/>
          </a:stretch>
        </p:blipFill>
        <p:spPr>
          <a:xfrm>
            <a:off x="4235115" y="1311896"/>
            <a:ext cx="7571541" cy="42547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AEF17D-2BB0-FF08-2D10-6EB774A5DC9E}"/>
              </a:ext>
            </a:extLst>
          </p:cNvPr>
          <p:cNvSpPr txBox="1"/>
          <p:nvPr/>
        </p:nvSpPr>
        <p:spPr>
          <a:xfrm>
            <a:off x="3646417" y="5798148"/>
            <a:ext cx="8545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Detecting disease where it actually begins — at the roots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3413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37076" y="1109783"/>
            <a:ext cx="3516777" cy="4370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TECHNOLOGIES USED:</a:t>
            </a:r>
          </a:p>
          <a:p>
            <a:pPr algn="just"/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Sensors: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Moisture, pH, EC, Temperature, Oxygen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Imaging: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Mini-rhizotron camera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AI Models: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CNN → Root image analysis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LSTM → Time-series soil data prediction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Fusion Model → Combines image + sensor insights for accurate disease prediction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Backend: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IoT Gateway + Cloud (AWS/Firebase)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Interface: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Mobile/Web dashboard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0153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US" b="1" dirty="0"/>
              <a:t>ROOT6</a:t>
            </a:r>
            <a:endParaRPr lang="en-IN" b="1" dirty="0"/>
          </a:p>
          <a:p>
            <a:pPr algn="ctr"/>
            <a:endParaRPr lang="en-IN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0506" y="-9253"/>
            <a:ext cx="2082141" cy="9831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F49984-27BD-77A5-1CDB-5347CF8D29D4}"/>
              </a:ext>
            </a:extLst>
          </p:cNvPr>
          <p:cNvSpPr txBox="1"/>
          <p:nvPr/>
        </p:nvSpPr>
        <p:spPr>
          <a:xfrm>
            <a:off x="4134602" y="988912"/>
            <a:ext cx="35920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METHODOLOGY AND IMPLEMENTATION PROCESS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Data Collection </a:t>
            </a:r>
            <a:r>
              <a:rPr lang="en-IN" dirty="0"/>
              <a:t>: Sensors + Camera capture soil &amp; root 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Data Transmission </a:t>
            </a:r>
            <a:r>
              <a:rPr lang="en-IN" dirty="0"/>
              <a:t>: Sent to cloud via IoT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Data Processing </a:t>
            </a:r>
            <a:r>
              <a:rPr lang="en-IN" dirty="0"/>
              <a:t>: Cleaning &amp; preprocessing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AI Analysis </a:t>
            </a:r>
            <a:r>
              <a:rPr lang="en-IN" dirty="0"/>
              <a:t>: Image + sensor data </a:t>
            </a:r>
            <a:r>
              <a:rPr lang="en-IN" dirty="0" err="1"/>
              <a:t>analyzed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Disease Classification </a:t>
            </a:r>
            <a:r>
              <a:rPr lang="en-IN" dirty="0"/>
              <a:t>: Identifies type &amp; severity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Decision Engine </a:t>
            </a:r>
            <a:r>
              <a:rPr lang="en-IN" dirty="0"/>
              <a:t>: Generates recommendations </a:t>
            </a:r>
          </a:p>
          <a:p>
            <a:r>
              <a:rPr lang="en-IN" b="1" dirty="0"/>
              <a:t>Output: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Alerts + Treatment suggestions</a:t>
            </a:r>
          </a:p>
          <a:p>
            <a:pPr lvl="0"/>
            <a:endParaRPr lang="en-IN" dirty="0"/>
          </a:p>
          <a:p>
            <a:pPr algn="ctr"/>
            <a:br>
              <a:rPr lang="en-US" b="1" dirty="0">
                <a:latin typeface="Arial" pitchFamily="34" charset="0"/>
                <a:cs typeface="Arial" pitchFamily="34" charset="0"/>
              </a:rPr>
            </a:br>
            <a:endParaRPr lang="en-US" b="1" dirty="0">
              <a:latin typeface="Arial" pitchFamily="34" charset="0"/>
              <a:cs typeface="Arial" pitchFamily="34" charset="0"/>
            </a:endParaRPr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D68649-8792-1155-1D71-2D6A410B78EB}"/>
              </a:ext>
            </a:extLst>
          </p:cNvPr>
          <p:cNvSpPr/>
          <p:nvPr/>
        </p:nvSpPr>
        <p:spPr>
          <a:xfrm>
            <a:off x="144378" y="980310"/>
            <a:ext cx="3592095" cy="4499899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AF9204-E07E-6EF2-C8F5-D5E12C7D9CAF}"/>
              </a:ext>
            </a:extLst>
          </p:cNvPr>
          <p:cNvSpPr/>
          <p:nvPr/>
        </p:nvSpPr>
        <p:spPr>
          <a:xfrm>
            <a:off x="4092074" y="973895"/>
            <a:ext cx="3592094" cy="4506315"/>
          </a:xfrm>
          <a:prstGeom prst="roundRect">
            <a:avLst>
              <a:gd name="adj" fmla="val 12860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813CD4-9487-4C9E-6D6D-4C70940383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25" r="4464"/>
          <a:stretch>
            <a:fillRect/>
          </a:stretch>
        </p:blipFill>
        <p:spPr>
          <a:xfrm>
            <a:off x="7929056" y="1043118"/>
            <a:ext cx="3594075" cy="52424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F7FACD-2A96-C70A-FA6C-500662C083F7}"/>
              </a:ext>
            </a:extLst>
          </p:cNvPr>
          <p:cNvSpPr txBox="1"/>
          <p:nvPr/>
        </p:nvSpPr>
        <p:spPr>
          <a:xfrm>
            <a:off x="162346" y="5480209"/>
            <a:ext cx="77667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n-lt"/>
                <a:cs typeface="Arial" panose="020B0604020202020204" pitchFamily="34" charset="0"/>
              </a:rPr>
              <a:t>REAL-WORLD CASE STUDY: </a:t>
            </a:r>
            <a:r>
              <a:rPr lang="en-IN" dirty="0">
                <a:latin typeface="+mn-lt"/>
                <a:cs typeface="Arial" panose="020B0604020202020204" pitchFamily="34" charset="0"/>
              </a:rPr>
              <a:t>In crops like tomato or rice, early root rot can be detected before leaf symptoms appear, enabling timely treatment and preventing crop loss.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FC347-3FFA-B49B-3BD5-1471920F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B0DA731-4228-D26A-3301-508261539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4A4B936A-2353-AD91-B2B2-6DE2AAF5F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45073-BEA9-93B4-6139-5D8781C9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595CDAC-C492-3F87-D6CE-37965F41F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1D8C47FC-CE79-AB16-8259-655E2C87AD7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94236"/>
            <a:ext cx="1251857" cy="72017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US" b="1" dirty="0"/>
              <a:t>ROOT6</a:t>
            </a:r>
            <a:endParaRPr lang="en-IN" b="1" dirty="0"/>
          </a:p>
          <a:p>
            <a:pPr algn="ctr"/>
            <a:endParaRPr lang="en-IN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C26A13-15E0-EEBE-4371-4F0C3BC12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2148A8-CD84-8616-FA7F-1146B3C73455}"/>
              </a:ext>
            </a:extLst>
          </p:cNvPr>
          <p:cNvSpPr/>
          <p:nvPr/>
        </p:nvSpPr>
        <p:spPr>
          <a:xfrm>
            <a:off x="462988" y="1095375"/>
            <a:ext cx="3345084" cy="516885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63BAC0-0F12-AE40-18AF-D323DDE0A3A6}"/>
              </a:ext>
            </a:extLst>
          </p:cNvPr>
          <p:cNvSpPr/>
          <p:nvPr/>
        </p:nvSpPr>
        <p:spPr>
          <a:xfrm>
            <a:off x="8237317" y="1095374"/>
            <a:ext cx="3345084" cy="4185358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038344-F470-AFBC-1809-7343D99E0DC1}"/>
              </a:ext>
            </a:extLst>
          </p:cNvPr>
          <p:cNvSpPr/>
          <p:nvPr/>
        </p:nvSpPr>
        <p:spPr>
          <a:xfrm>
            <a:off x="4404166" y="1095374"/>
            <a:ext cx="3345083" cy="4185357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D08F9C-402B-58CA-49DA-B900D66E1644}"/>
              </a:ext>
            </a:extLst>
          </p:cNvPr>
          <p:cNvSpPr txBox="1"/>
          <p:nvPr/>
        </p:nvSpPr>
        <p:spPr>
          <a:xfrm>
            <a:off x="590308" y="1185912"/>
            <a:ext cx="321776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itchFamily="1" charset="-128"/>
                <a:cs typeface="Arial" pitchFamily="34" charset="0"/>
              </a:rPr>
              <a:t>FEASIBILITY OF THE IDEA :</a:t>
            </a:r>
            <a:endParaRPr lang="en-US" b="1" dirty="0">
              <a:solidFill>
                <a:prstClr val="black"/>
              </a:solidFill>
              <a:latin typeface="+mn-lt"/>
              <a:cs typeface="Arial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Technical Feasibility:</a:t>
            </a:r>
            <a:endParaRPr lang="en-IN" dirty="0"/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dirty="0"/>
              <a:t>Uses proven technologies (IoT + AI + sensors)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Economic Feasibility:</a:t>
            </a:r>
            <a:endParaRPr lang="en-IN" dirty="0"/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dirty="0"/>
              <a:t>Low-cost prototype </a:t>
            </a:r>
          </a:p>
          <a:p>
            <a:pPr lvl="0"/>
            <a:r>
              <a:rPr lang="en-IN" dirty="0"/>
              <a:t>     (approx. ₹3000–₹5000) 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dirty="0"/>
              <a:t>Scalable for different farm sizes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Operational Feasibility:</a:t>
            </a:r>
            <a:endParaRPr lang="en-IN" dirty="0"/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dirty="0"/>
              <a:t>Easy to use with minimal training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Scalability:</a:t>
            </a:r>
            <a:endParaRPr lang="en-IN" dirty="0"/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dirty="0"/>
              <a:t>Cloud-based → usable across regions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dirty="0"/>
              <a:t>Prototype can be built using Arduino/Raspberry Pi + low-cost sensors</a:t>
            </a: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9B3F41-52DE-D4ED-AE83-B45C3ADE550A}"/>
              </a:ext>
            </a:extLst>
          </p:cNvPr>
          <p:cNvSpPr txBox="1"/>
          <p:nvPr/>
        </p:nvSpPr>
        <p:spPr>
          <a:xfrm>
            <a:off x="4423458" y="1310413"/>
            <a:ext cx="31984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>
                <a:latin typeface="+mn-lt"/>
              </a:rPr>
              <a:t>POTENTIAL CHALLENGES AND RISK 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High Initial Setup Cost</a:t>
            </a:r>
            <a:r>
              <a:rPr lang="en-IN" dirty="0"/>
              <a:t> for small-scale farmers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 Accuracy Issues</a:t>
            </a:r>
            <a:r>
              <a:rPr lang="en-IN" dirty="0"/>
              <a:t> due to environmental variations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Limited Root Image Quality</a:t>
            </a:r>
            <a:r>
              <a:rPr lang="en-IN" dirty="0"/>
              <a:t> in soil conditions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Connectivity Issues</a:t>
            </a:r>
            <a:r>
              <a:rPr lang="en-IN" dirty="0"/>
              <a:t> in rural areas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Farmer Adoption Resistance</a:t>
            </a:r>
            <a:r>
              <a:rPr lang="en-IN" dirty="0"/>
              <a:t> due to lack of awareness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A7A084-7780-888D-224F-597F1D4A1006}"/>
              </a:ext>
            </a:extLst>
          </p:cNvPr>
          <p:cNvSpPr txBox="1"/>
          <p:nvPr/>
        </p:nvSpPr>
        <p:spPr>
          <a:xfrm>
            <a:off x="8329916" y="1310413"/>
            <a:ext cx="31058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STRATEGIES TO OVERCOME CHALLENGES: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Cost Reduction:</a:t>
            </a:r>
            <a:r>
              <a:rPr lang="en-IN" dirty="0"/>
              <a:t> Use low-cost components and subsidy support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Improve Accuracy:</a:t>
            </a:r>
            <a:r>
              <a:rPr lang="en-IN" dirty="0"/>
              <a:t> Train AI with diverse 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Better Imaging:</a:t>
            </a:r>
            <a:r>
              <a:rPr lang="en-IN" dirty="0"/>
              <a:t> Optimize camera setup and processing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Connectivity:</a:t>
            </a:r>
            <a:r>
              <a:rPr lang="en-IN" dirty="0"/>
              <a:t> Enable offline data storage and sync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Adoption:</a:t>
            </a:r>
            <a:r>
              <a:rPr lang="en-IN" dirty="0"/>
              <a:t> Provide simple UI and farmer training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2B57F3-97AD-6F59-D9CC-54B81171B028}"/>
              </a:ext>
            </a:extLst>
          </p:cNvPr>
          <p:cNvSpPr/>
          <p:nvPr/>
        </p:nvSpPr>
        <p:spPr>
          <a:xfrm>
            <a:off x="4423458" y="5495769"/>
            <a:ext cx="7158942" cy="717328"/>
          </a:xfrm>
          <a:prstGeom prst="roundRect">
            <a:avLst>
              <a:gd name="adj" fmla="val 36794"/>
            </a:avLst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5FA0C6-FD42-7A73-3E7D-C2155540982A}"/>
              </a:ext>
            </a:extLst>
          </p:cNvPr>
          <p:cNvSpPr txBox="1"/>
          <p:nvPr/>
        </p:nvSpPr>
        <p:spPr>
          <a:xfrm>
            <a:off x="4423458" y="5533551"/>
            <a:ext cx="71782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FUTURE/SCALING LINE: </a:t>
            </a:r>
            <a:r>
              <a:rPr lang="en-IN" dirty="0"/>
              <a:t>Can be scaled for multiple crops and integrated with government smart agriculture initiatives.</a:t>
            </a:r>
          </a:p>
        </p:txBody>
      </p:sp>
    </p:spTree>
    <p:extLst>
      <p:ext uri="{BB962C8B-B14F-4D97-AF65-F5344CB8AC3E}">
        <p14:creationId xmlns:p14="http://schemas.microsoft.com/office/powerpoint/2010/main" val="1922827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20661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93248"/>
            <a:ext cx="1251857" cy="62096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US" b="1" dirty="0"/>
              <a:t>ROOT6</a:t>
            </a:r>
            <a:endParaRPr lang="en-IN" b="1" dirty="0"/>
          </a:p>
          <a:p>
            <a:pPr algn="ctr"/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CC24A7-4290-0AC9-39F2-12A44534A02D}"/>
              </a:ext>
            </a:extLst>
          </p:cNvPr>
          <p:cNvSpPr/>
          <p:nvPr/>
        </p:nvSpPr>
        <p:spPr>
          <a:xfrm>
            <a:off x="609601" y="839753"/>
            <a:ext cx="4825501" cy="5387558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E0A598F-E729-610A-D821-BA423CD7D874}"/>
              </a:ext>
            </a:extLst>
          </p:cNvPr>
          <p:cNvSpPr/>
          <p:nvPr/>
        </p:nvSpPr>
        <p:spPr>
          <a:xfrm>
            <a:off x="5631972" y="839754"/>
            <a:ext cx="4873630" cy="413330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0095CC-996A-9D5D-8791-686FE90FD3FE}"/>
              </a:ext>
            </a:extLst>
          </p:cNvPr>
          <p:cNvSpPr txBox="1"/>
          <p:nvPr/>
        </p:nvSpPr>
        <p:spPr>
          <a:xfrm>
            <a:off x="955700" y="912307"/>
            <a:ext cx="425489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POTENTIAL IMPACT ON TARGET AUDIENCE: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Farmers:</a:t>
            </a:r>
            <a:r>
              <a:rPr lang="en-IN" dirty="0"/>
              <a:t> Enables early disease detection, reducing crop loss and improving yield and income.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Agri-Tech Users:</a:t>
            </a:r>
            <a:r>
              <a:rPr lang="en-IN" dirty="0"/>
              <a:t> Provides accurate, real-time data for better decision-making and precision farming.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Government &amp; Agencies:</a:t>
            </a:r>
            <a:r>
              <a:rPr lang="en-IN" dirty="0"/>
              <a:t> Supports large-scale crop monitoring and promotes sustainable agriculture practices.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Food Supply Chain:</a:t>
            </a:r>
            <a:r>
              <a:rPr lang="en-IN" dirty="0"/>
              <a:t> Ensures better crop quality and consistent agricultural output.</a:t>
            </a:r>
            <a:endParaRPr lang="en-IN" b="1" dirty="0"/>
          </a:p>
          <a:p>
            <a:pPr lvl="0" algn="just"/>
            <a:r>
              <a:rPr lang="en-IN" b="1" dirty="0"/>
              <a:t>EXPECTED OUTCOME: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 err="1"/>
              <a:t>Upto</a:t>
            </a:r>
            <a:r>
              <a:rPr lang="en-IN" dirty="0"/>
              <a:t> 20-30% reduction in crop loss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Shifts farming from reactive to preventive agriculture</a:t>
            </a:r>
          </a:p>
          <a:p>
            <a:pPr lvl="0" algn="just"/>
            <a:endParaRPr lang="en-IN" b="1" dirty="0"/>
          </a:p>
          <a:p>
            <a:pPr lvl="0" algn="just"/>
            <a:endParaRPr lang="en-IN" dirty="0"/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30B2DE-1A45-8F83-DB58-FD753C8F5461}"/>
              </a:ext>
            </a:extLst>
          </p:cNvPr>
          <p:cNvSpPr txBox="1"/>
          <p:nvPr/>
        </p:nvSpPr>
        <p:spPr>
          <a:xfrm>
            <a:off x="5781201" y="982097"/>
            <a:ext cx="4724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BENEFITS OF THE SOLUTION : </a:t>
            </a:r>
          </a:p>
          <a:p>
            <a:endParaRPr lang="en-IN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Social Benefits:</a:t>
            </a:r>
            <a:r>
              <a:rPr lang="en-IN" dirty="0"/>
              <a:t> Improves farmer livelihood, reduces stress due to crop failure, and promotes smart farming awareness.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Economic Benefits:</a:t>
            </a:r>
            <a:r>
              <a:rPr lang="en-IN" dirty="0"/>
              <a:t> Increases productivity, reduces input costs (water, fertilizers), and boosts farmer income.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Environmental Benefits:</a:t>
            </a:r>
            <a:r>
              <a:rPr lang="en-IN" dirty="0"/>
              <a:t> Minimizes overuse of chemicals, conserves water, and supports sustainable soil health.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Technological Benefits:</a:t>
            </a:r>
            <a:r>
              <a:rPr lang="en-IN" dirty="0"/>
              <a:t> Introduces AI-driven, data-based farming for efficient and modern agriculture.</a:t>
            </a:r>
          </a:p>
          <a:p>
            <a:endParaRPr lang="en-IN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018B0B3-C2D8-B3C4-11AA-A5B24D4DAC73}"/>
              </a:ext>
            </a:extLst>
          </p:cNvPr>
          <p:cNvSpPr/>
          <p:nvPr/>
        </p:nvSpPr>
        <p:spPr>
          <a:xfrm>
            <a:off x="5584331" y="5099322"/>
            <a:ext cx="4873629" cy="1118918"/>
          </a:xfrm>
          <a:prstGeom prst="roundRect">
            <a:avLst>
              <a:gd name="adj" fmla="val 31173"/>
            </a:avLst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644D96-2A90-4799-7C00-F08841CBB2EB}"/>
              </a:ext>
            </a:extLst>
          </p:cNvPr>
          <p:cNvSpPr txBox="1"/>
          <p:nvPr/>
        </p:nvSpPr>
        <p:spPr>
          <a:xfrm>
            <a:off x="5631973" y="5232388"/>
            <a:ext cx="47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Unlike existing solutions that </a:t>
            </a:r>
            <a:r>
              <a:rPr lang="en-IN" dirty="0" err="1"/>
              <a:t>analyze</a:t>
            </a:r>
            <a:r>
              <a:rPr lang="en-IN" dirty="0"/>
              <a:t> soil or leaves, </a:t>
            </a:r>
            <a:r>
              <a:rPr lang="en-IN" dirty="0" err="1"/>
              <a:t>RootXense</a:t>
            </a:r>
            <a:r>
              <a:rPr lang="en-IN" dirty="0"/>
              <a:t> detects diseases directly at the root level in real time.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US" b="1" dirty="0"/>
              <a:t>ROOT6</a:t>
            </a:r>
            <a:endParaRPr lang="en-IN" b="1" dirty="0"/>
          </a:p>
          <a:p>
            <a:pPr algn="ctr"/>
            <a:endParaRPr lang="en-IN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8F0901-3AA4-C44F-CDD6-A634A31F9BFB}"/>
              </a:ext>
            </a:extLst>
          </p:cNvPr>
          <p:cNvSpPr txBox="1"/>
          <p:nvPr/>
        </p:nvSpPr>
        <p:spPr>
          <a:xfrm>
            <a:off x="955701" y="1368269"/>
            <a:ext cx="1219199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1. AI + IoT Soil Monitoring 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https://bsssjournals.onlinelibrary.wiley.com/doi/pdf/10.1111/sum.70201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2. A IoT in Smart Agriculture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https://www.sciencedirect.com/science/article/pii/S1877050925022434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3. Machine Learning + Soil 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https://www.nature.com/articles/s41598-026-36017-z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4. IoT-Based Soil Health Monitoring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https://ijamjournal.org/ijam/publication/index.php/ijam/article/view/1070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5. Soil Sensors &amp; Smart Agriculture (Sensors Justification)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https://www.mdpi.com/2077-0472/16/3/359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7938</TotalTime>
  <Words>787</Words>
  <Application>Microsoft Office PowerPoint</Application>
  <PresentationFormat>Widescreen</PresentationFormat>
  <Paragraphs>124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RootXense: An AI-Enabled Soil-Root Health Monitoring System for Sustainable Crop Management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harshahvpn@gmail.com</cp:lastModifiedBy>
  <cp:revision>149</cp:revision>
  <dcterms:created xsi:type="dcterms:W3CDTF">2013-12-12T18:46:50Z</dcterms:created>
  <dcterms:modified xsi:type="dcterms:W3CDTF">2026-08-23T20:55:28Z</dcterms:modified>
  <cp:category/>
</cp:coreProperties>
</file>